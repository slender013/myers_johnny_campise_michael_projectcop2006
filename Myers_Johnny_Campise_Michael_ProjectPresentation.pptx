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5"/>
  </p:notesMasterIdLst>
  <p:handoutMasterIdLst>
    <p:handoutMasterId r:id="rId16"/>
  </p:handoutMasterIdLst>
  <p:sldIdLst>
    <p:sldId id="312" r:id="rId5"/>
    <p:sldId id="304" r:id="rId6"/>
    <p:sldId id="307" r:id="rId7"/>
    <p:sldId id="281" r:id="rId8"/>
    <p:sldId id="282" r:id="rId9"/>
    <p:sldId id="314" r:id="rId10"/>
    <p:sldId id="315" r:id="rId11"/>
    <p:sldId id="317" r:id="rId12"/>
    <p:sldId id="322" r:id="rId13"/>
    <p:sldId id="297" r:id="rId1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CC09EB-C3D0-B4CA-4794-4CDBF34E1992}" v="1941" dt="2025-04-09T03:21:26.397"/>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22" autoAdjust="0"/>
    <p:restoredTop sz="95388" autoAdjust="0"/>
  </p:normalViewPr>
  <p:slideViewPr>
    <p:cSldViewPr snapToGrid="0" snapToObjects="1">
      <p:cViewPr>
        <p:scale>
          <a:sx n="100" d="100"/>
          <a:sy n="100" d="100"/>
        </p:scale>
        <p:origin x="-706" y="-538"/>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www.sfml-dev.org/" TargetMode="External"/><Relationship Id="rId7" Type="http://schemas.openxmlformats.org/officeDocument/2006/relationships/hyperlink" Target="https://github.com/SFML/SFML" TargetMode="Externa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hyperlink" Target="https://github.com/SFML/cmake-sfml-project0" TargetMode="External"/><Relationship Id="rId5" Type="http://schemas.openxmlformats.org/officeDocument/2006/relationships/hyperlink" Target="https://github.com/SFML/SFML-Game-Development-Book" TargetMode="External"/><Relationship Id="rId4" Type="http://schemas.openxmlformats.org/officeDocument/2006/relationships/hyperlink" Target="https://www.geeksforgeeks.org/cpp-gui-programming/?ref=gcse_outin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Snakes &amp; Ladders Game Project</a:t>
            </a:r>
            <a:br>
              <a:rPr lang="en-US" dirty="0"/>
            </a:br>
            <a:r>
              <a:rPr lang="en-US" sz="2800" dirty="0"/>
              <a:t>Michael Campise</a:t>
            </a:r>
            <a:br>
              <a:rPr lang="en-US" sz="2800" dirty="0"/>
            </a:br>
            <a:r>
              <a:rPr lang="en-US" sz="2800" dirty="0"/>
              <a:t>Johnny Myers Jr</a:t>
            </a:r>
            <a:br>
              <a:rPr lang="en-US" sz="2800" dirty="0"/>
            </a:br>
            <a:r>
              <a:rPr lang="en-US" sz="2800" dirty="0"/>
              <a:t>cOP2006::Spring2025</a:t>
            </a:r>
            <a:br>
              <a:rPr lang="en-US" sz="2800" dirty="0"/>
            </a:br>
            <a:r>
              <a:rPr lang="en-US" sz="2800" dirty="0"/>
              <a:t>Dr. </a:t>
            </a:r>
            <a:r>
              <a:rPr lang="en-US" sz="2800" dirty="0" err="1"/>
              <a:t>SunnY</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302751"/>
            <a:ext cx="6583680" cy="1531357"/>
          </a:xfrm>
        </p:spPr>
        <p:txBody>
          <a:bodyPr/>
          <a:lstStyle/>
          <a:p>
            <a:r>
              <a:rPr lang="en-US" dirty="0"/>
              <a:t>Our Goal</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1223830"/>
            <a:ext cx="6583680" cy="5001418"/>
          </a:xfrm>
        </p:spPr>
        <p:txBody>
          <a:bodyPr vert="horz" lIns="91440" tIns="0" rIns="91440" bIns="0" rtlCol="0" anchor="t">
            <a:normAutofit lnSpcReduction="10000"/>
          </a:bodyPr>
          <a:lstStyle/>
          <a:p>
            <a:r>
              <a:rPr lang="en-US" dirty="0"/>
              <a:t>Create a program for the classic Snakes and Ladders game that uses a graphical user interface.</a:t>
            </a:r>
          </a:p>
          <a:p>
            <a:r>
              <a:rPr lang="en-US" dirty="0">
                <a:cs typeface="Sabon Next LT"/>
              </a:rPr>
              <a:t>Our game is just as fun as the board game and it gives off a creative, user-friendly interface!</a:t>
            </a:r>
          </a:p>
          <a:p>
            <a:endParaRPr lang="en-US" dirty="0">
              <a:latin typeface="Sabon Next LT"/>
              <a:cs typeface="Sabon Next LT"/>
            </a:endParaRPr>
          </a:p>
          <a:p>
            <a:r>
              <a:rPr lang="en-US" sz="3600" b="1" cap="all" dirty="0">
                <a:latin typeface="Arial Black"/>
                <a:cs typeface="Sabon Next LT"/>
              </a:rPr>
              <a:t>Software requisites:</a:t>
            </a:r>
            <a:endParaRPr lang="en-US" sz="3600" dirty="0">
              <a:solidFill>
                <a:srgbClr val="000000"/>
              </a:solidFill>
              <a:latin typeface="Arial Black"/>
              <a:cs typeface="Sabon Next LT"/>
            </a:endParaRPr>
          </a:p>
          <a:p>
            <a:pPr marL="342900" indent="-342900">
              <a:buChar char="•"/>
            </a:pPr>
            <a:r>
              <a:rPr lang="en-US" dirty="0">
                <a:cs typeface="Sabon Next LT"/>
              </a:rPr>
              <a:t>Any </a:t>
            </a:r>
            <a:r>
              <a:rPr lang="en-US" dirty="0">
                <a:ea typeface="+mn-lt"/>
                <a:cs typeface="+mn-lt"/>
              </a:rPr>
              <a:t>integrated development environment</a:t>
            </a:r>
            <a:r>
              <a:rPr lang="en-US" dirty="0">
                <a:cs typeface="Sabon Next LT"/>
              </a:rPr>
              <a:t> for C++ (preferably </a:t>
            </a:r>
            <a:r>
              <a:rPr lang="en-US" dirty="0" err="1">
                <a:cs typeface="Sabon Next LT"/>
              </a:rPr>
              <a:t>CLion</a:t>
            </a:r>
            <a:r>
              <a:rPr lang="en-US" dirty="0">
                <a:cs typeface="Sabon Next LT"/>
              </a:rPr>
              <a:t>)</a:t>
            </a:r>
          </a:p>
          <a:p>
            <a:pPr marL="342900" indent="-342900">
              <a:buChar char="•"/>
            </a:pPr>
            <a:r>
              <a:rPr lang="en-US" dirty="0">
                <a:cs typeface="Sabon Next LT"/>
              </a:rPr>
              <a:t>SFML Downloaded</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4786112" y="762610"/>
            <a:ext cx="5472802" cy="755485"/>
          </a:xfrm>
        </p:spPr>
        <p:txBody>
          <a:bodyPr/>
          <a:lstStyle/>
          <a:p>
            <a:r>
              <a:rPr lang="en-US" dirty="0"/>
              <a:t>Introduction &amp; Why WE Chose this project:</a:t>
            </a:r>
            <a:br>
              <a:rPr lang="en-US" dirty="0"/>
            </a:br>
            <a:endParaRPr lang="en-US" sz="2400" b="0">
              <a:latin typeface="Sabon Next LT"/>
              <a:cs typeface="Sabon Next LT"/>
            </a:endParaRPr>
          </a:p>
        </p:txBody>
      </p:sp>
      <p:sp>
        <p:nvSpPr>
          <p:cNvPr id="8" name="TextBox 7">
            <a:extLst>
              <a:ext uri="{FF2B5EF4-FFF2-40B4-BE49-F238E27FC236}">
                <a16:creationId xmlns:a16="http://schemas.microsoft.com/office/drawing/2014/main" id="{7B77AA75-54FB-CBC1-74EB-4AE92B74BE6A}"/>
              </a:ext>
            </a:extLst>
          </p:cNvPr>
          <p:cNvSpPr txBox="1"/>
          <p:nvPr/>
        </p:nvSpPr>
        <p:spPr>
          <a:xfrm>
            <a:off x="4783923" y="1957351"/>
            <a:ext cx="5875688" cy="39143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400" dirty="0">
                <a:solidFill>
                  <a:srgbClr val="1F2C8F"/>
                </a:solidFill>
                <a:cs typeface="Sabon Next LT"/>
              </a:rPr>
              <a:t>Our project is a take on the classic game, snakes and ladders, that was created with a user-friendly experience in mind.  </a:t>
            </a:r>
          </a:p>
          <a:p>
            <a:pPr>
              <a:lnSpc>
                <a:spcPct val="150000"/>
              </a:lnSpc>
            </a:pPr>
            <a:r>
              <a:rPr lang="en-US" sz="2400" dirty="0">
                <a:solidFill>
                  <a:srgbClr val="1F2C8F"/>
                </a:solidFill>
                <a:cs typeface="Sabon Next LT"/>
              </a:rPr>
              <a:t>We chose this project because we love video games and even though this program is simple compared to modern video games, it has allowed us to create what we love.</a:t>
            </a:r>
          </a:p>
        </p:txBody>
      </p:sp>
      <p:pic>
        <p:nvPicPr>
          <p:cNvPr id="17" name="Picture Placeholder 16" descr="Green blue soft blur background">
            <a:extLst>
              <a:ext uri="{FF2B5EF4-FFF2-40B4-BE49-F238E27FC236}">
                <a16:creationId xmlns:a16="http://schemas.microsoft.com/office/drawing/2014/main" id="{71B86044-F980-E74A-18DA-ECB33ED23ECA}"/>
              </a:ext>
            </a:extLst>
          </p:cNvPr>
          <p:cNvPicPr>
            <a:picLocks noGrp="1" noChangeAspect="1"/>
          </p:cNvPicPr>
          <p:nvPr>
            <p:ph type="pic" sz="quarter" idx="11"/>
          </p:nvPr>
        </p:nvPicPr>
        <p:blipFill>
          <a:blip r:embed="rId3"/>
          <a:srcRect l="27231" r="27231"/>
          <a:stretch/>
        </p:blipFill>
        <p:spPr/>
      </p:pic>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625033" y="420668"/>
            <a:ext cx="6494186" cy="2359990"/>
          </a:xfrm>
        </p:spPr>
        <p:txBody>
          <a:bodyPr/>
          <a:lstStyle/>
          <a:p>
            <a:r>
              <a:rPr lang="en-US" b="0" dirty="0">
                <a:ea typeface="+mj-lt"/>
                <a:cs typeface="+mj-lt"/>
              </a:rPr>
              <a:t>Existing technique and Our improvisations to the existing concept</a:t>
            </a:r>
            <a:endParaRPr lang="en-US" dirty="0"/>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914400" y="2959940"/>
            <a:ext cx="5259554" cy="3689713"/>
          </a:xfrm>
        </p:spPr>
        <p:txBody>
          <a:bodyPr vert="horz" lIns="91440" tIns="0" rIns="91440" bIns="0" rtlCol="0" anchor="t">
            <a:normAutofit fontScale="92500" lnSpcReduction="20000"/>
          </a:bodyPr>
          <a:lstStyle/>
          <a:p>
            <a:r>
              <a:rPr lang="en-US" dirty="0"/>
              <a:t>The existing concept is a simple snakes and ladders game that is played in the console of an </a:t>
            </a:r>
            <a:r>
              <a:rPr lang="en-US" dirty="0">
                <a:ea typeface="+mn-lt"/>
                <a:cs typeface="+mn-lt"/>
              </a:rPr>
              <a:t>integrated development environment</a:t>
            </a:r>
            <a:r>
              <a:rPr lang="en-US" dirty="0"/>
              <a:t> and asks the user each time they want to roll. </a:t>
            </a:r>
            <a:endParaRPr lang="en-US"/>
          </a:p>
          <a:p>
            <a:br>
              <a:rPr lang="en-US" dirty="0">
                <a:cs typeface="Sabon Next LT"/>
              </a:rPr>
            </a:br>
            <a:r>
              <a:rPr lang="en-US" dirty="0">
                <a:cs typeface="Sabon Next LT"/>
              </a:rPr>
              <a:t>Our improvisation is a graphical user interface that allows the player to see the board and dice clearly and roll with a simple click of a button. We also added a fun game mechanic where the user must roll the exact number of spaces to finish the game.</a:t>
            </a:r>
            <a:endParaRPr lang="en-US"/>
          </a:p>
        </p:txBody>
      </p:sp>
      <p:pic>
        <p:nvPicPr>
          <p:cNvPr id="14" name="Picture Placeholder 13" descr="Blue to purple gradient">
            <a:extLst>
              <a:ext uri="{FF2B5EF4-FFF2-40B4-BE49-F238E27FC236}">
                <a16:creationId xmlns:a16="http://schemas.microsoft.com/office/drawing/2014/main" id="{03E15FAD-AE69-14B2-9F7C-1543EC8DFE1E}"/>
              </a:ext>
            </a:extLst>
          </p:cNvPr>
          <p:cNvPicPr>
            <a:picLocks noGrp="1" noChangeAspect="1"/>
          </p:cNvPicPr>
          <p:nvPr>
            <p:ph type="pic" sz="quarter" idx="11"/>
          </p:nvPr>
        </p:nvPicPr>
        <p:blipFill>
          <a:blip r:embed="rId3"/>
          <a:srcRect l="31044" r="31044"/>
          <a:stretch/>
        </p:blipFill>
        <p:spPr/>
      </p:pic>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682413" y="-495663"/>
            <a:ext cx="7965461" cy="994164"/>
          </a:xfrm>
        </p:spPr>
        <p:txBody>
          <a:bodyPr/>
          <a:lstStyle/>
          <a:p>
            <a:r>
              <a:rPr lang="en-US" dirty="0">
                <a:cs typeface="Arial"/>
              </a:rPr>
              <a:t>Pseudo code</a:t>
            </a:r>
            <a:endParaRPr lang="en-US"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457427" y="692220"/>
            <a:ext cx="2313155" cy="6362431"/>
          </a:xfrm>
        </p:spPr>
        <p:txBody>
          <a:bodyPr vert="horz" lIns="91440" tIns="0" rIns="91440" bIns="0" rtlCol="0" anchor="t">
            <a:noAutofit/>
          </a:bodyPr>
          <a:lstStyle/>
          <a:p>
            <a:pPr marL="347345" indent="-347345"/>
            <a:r>
              <a:rPr lang="en-US" sz="1100" dirty="0">
                <a:ea typeface="+mn-lt"/>
                <a:cs typeface="+mn-lt"/>
              </a:rPr>
              <a:t>PROGRAM </a:t>
            </a:r>
            <a:r>
              <a:rPr lang="en-US" sz="1100" err="1">
                <a:ea typeface="+mn-lt"/>
                <a:cs typeface="+mn-lt"/>
              </a:rPr>
              <a:t>SnakesAndLaddersGUI</a:t>
            </a:r>
            <a:endParaRPr lang="en-US" sz="1100">
              <a:cs typeface="Sabon Next LT"/>
            </a:endParaRPr>
          </a:p>
          <a:p>
            <a:pPr marL="347345" indent="-347345"/>
            <a:r>
              <a:rPr lang="en-US" sz="1100" dirty="0">
                <a:ea typeface="+mn-lt"/>
                <a:cs typeface="+mn-lt"/>
              </a:rPr>
              <a:t>    SET </a:t>
            </a:r>
            <a:r>
              <a:rPr lang="en-US" sz="1100" err="1">
                <a:ea typeface="+mn-lt"/>
                <a:cs typeface="+mn-lt"/>
              </a:rPr>
              <a:t>windowWidth</a:t>
            </a:r>
            <a:r>
              <a:rPr lang="en-US" sz="1100" dirty="0">
                <a:ea typeface="+mn-lt"/>
                <a:cs typeface="+mn-lt"/>
              </a:rPr>
              <a:t> TO 800</a:t>
            </a:r>
            <a:endParaRPr lang="en-US" sz="1100" dirty="0">
              <a:cs typeface="Sabon Next LT"/>
            </a:endParaRPr>
          </a:p>
          <a:p>
            <a:pPr marL="347345" indent="-347345"/>
            <a:r>
              <a:rPr lang="en-US" sz="1100" dirty="0">
                <a:ea typeface="+mn-lt"/>
                <a:cs typeface="+mn-lt"/>
              </a:rPr>
              <a:t>    SET </a:t>
            </a:r>
            <a:r>
              <a:rPr lang="en-US" sz="1100" err="1">
                <a:ea typeface="+mn-lt"/>
                <a:cs typeface="+mn-lt"/>
              </a:rPr>
              <a:t>windowHeight</a:t>
            </a:r>
            <a:r>
              <a:rPr lang="en-US" sz="1100" dirty="0">
                <a:ea typeface="+mn-lt"/>
                <a:cs typeface="+mn-lt"/>
              </a:rPr>
              <a:t> TO 800</a:t>
            </a:r>
            <a:endParaRPr lang="en-US" sz="1100" dirty="0">
              <a:cs typeface="Sabon Next LT"/>
            </a:endParaRPr>
          </a:p>
          <a:p>
            <a:pPr marL="347345" indent="-347345"/>
            <a:r>
              <a:rPr lang="en-US" sz="1100" dirty="0">
                <a:ea typeface="+mn-lt"/>
                <a:cs typeface="+mn-lt"/>
              </a:rPr>
              <a:t>    SET rows TO 10</a:t>
            </a:r>
            <a:endParaRPr lang="en-US" sz="1100" dirty="0">
              <a:cs typeface="Sabon Next LT"/>
            </a:endParaRPr>
          </a:p>
          <a:p>
            <a:pPr marL="347345" indent="-347345"/>
            <a:r>
              <a:rPr lang="en-US" sz="1100" dirty="0">
                <a:ea typeface="+mn-lt"/>
                <a:cs typeface="+mn-lt"/>
              </a:rPr>
              <a:t>    SET cols TO 10</a:t>
            </a:r>
            <a:endParaRPr lang="en-US" sz="1100" dirty="0">
              <a:cs typeface="Sabon Next LT"/>
            </a:endParaRPr>
          </a:p>
          <a:p>
            <a:pPr marL="347345" indent="-347345"/>
            <a:r>
              <a:rPr lang="en-US" sz="1100" dirty="0">
                <a:ea typeface="+mn-lt"/>
                <a:cs typeface="+mn-lt"/>
              </a:rPr>
              <a:t>    SET </a:t>
            </a:r>
            <a:r>
              <a:rPr lang="en-US" sz="1100" err="1">
                <a:ea typeface="+mn-lt"/>
                <a:cs typeface="+mn-lt"/>
              </a:rPr>
              <a:t>currentTile</a:t>
            </a:r>
            <a:r>
              <a:rPr lang="en-US" sz="1100" dirty="0">
                <a:ea typeface="+mn-lt"/>
                <a:cs typeface="+mn-lt"/>
              </a:rPr>
              <a:t> TO 0</a:t>
            </a:r>
            <a:endParaRPr lang="en-US" sz="1100" dirty="0">
              <a:cs typeface="Sabon Next LT"/>
            </a:endParaRPr>
          </a:p>
          <a:p>
            <a:pPr marL="347345" indent="-347345"/>
            <a:r>
              <a:rPr lang="en-US" sz="1100" dirty="0">
                <a:ea typeface="+mn-lt"/>
                <a:cs typeface="+mn-lt"/>
              </a:rPr>
              <a:t>    SET </a:t>
            </a:r>
            <a:r>
              <a:rPr lang="en-US" sz="1100" err="1">
                <a:ea typeface="+mn-lt"/>
                <a:cs typeface="+mn-lt"/>
              </a:rPr>
              <a:t>totalTiles</a:t>
            </a:r>
            <a:r>
              <a:rPr lang="en-US" sz="1100" dirty="0">
                <a:ea typeface="+mn-lt"/>
                <a:cs typeface="+mn-lt"/>
              </a:rPr>
              <a:t> TO rows * cols</a:t>
            </a:r>
            <a:endParaRPr lang="en-US" sz="1100" dirty="0">
              <a:cs typeface="Sabon Next LT"/>
            </a:endParaRPr>
          </a:p>
          <a:p>
            <a:pPr marL="347345" indent="-347345"/>
            <a:r>
              <a:rPr lang="en-US" sz="1100" dirty="0">
                <a:ea typeface="+mn-lt"/>
                <a:cs typeface="+mn-lt"/>
              </a:rPr>
              <a:t>    LOAD font from "font.otf"</a:t>
            </a:r>
            <a:endParaRPr lang="en-US" sz="1100" dirty="0">
              <a:cs typeface="Sabon Next LT"/>
            </a:endParaRPr>
          </a:p>
          <a:p>
            <a:pPr marL="347345" indent="-347345"/>
            <a:r>
              <a:rPr lang="en-US" dirty="0">
                <a:cs typeface="Sabon Next LT"/>
              </a:rPr>
              <a:t>      </a:t>
            </a:r>
            <a:r>
              <a:rPr lang="en-US" sz="1100" dirty="0">
                <a:cs typeface="Sabon Next LT"/>
              </a:rPr>
              <a:t>  CREATE window of size (1200, 800) titled "My window"</a:t>
            </a:r>
            <a:endParaRPr lang="en-US" sz="1100" dirty="0">
              <a:solidFill>
                <a:srgbClr val="000000"/>
              </a:solidFill>
              <a:cs typeface="Sabon Next LT"/>
            </a:endParaRPr>
          </a:p>
          <a:p>
            <a:pPr marL="347345" indent="-347345"/>
            <a:r>
              <a:rPr lang="en-US" sz="1100" dirty="0">
                <a:cs typeface="Sabon Next LT"/>
              </a:rPr>
              <a:t>    LOAD 6 dice textures from dice1.png to dice6.png INTO </a:t>
            </a:r>
            <a:r>
              <a:rPr lang="en-US" sz="1100" dirty="0" err="1">
                <a:cs typeface="Sabon Next LT"/>
              </a:rPr>
              <a:t>diceTextures</a:t>
            </a:r>
            <a:r>
              <a:rPr lang="en-US" sz="1100" dirty="0">
                <a:cs typeface="Sabon Next LT"/>
              </a:rPr>
              <a:t>[]</a:t>
            </a:r>
            <a:endParaRPr lang="en-US" sz="1100" dirty="0">
              <a:solidFill>
                <a:srgbClr val="000000"/>
              </a:solidFill>
              <a:cs typeface="Sabon Next LT"/>
            </a:endParaRPr>
          </a:p>
          <a:p>
            <a:pPr marL="347345" indent="-347345"/>
            <a:r>
              <a:rPr lang="en-US" sz="1100" dirty="0">
                <a:cs typeface="Sabon Next LT"/>
              </a:rPr>
              <a:t>    LOAD board texture from "board.png"</a:t>
            </a:r>
            <a:endParaRPr lang="en-US" sz="1100" dirty="0">
              <a:solidFill>
                <a:srgbClr val="000000"/>
              </a:solidFill>
              <a:cs typeface="Sabon Next LT"/>
            </a:endParaRPr>
          </a:p>
          <a:p>
            <a:pPr marL="347345" indent="-347345"/>
            <a:r>
              <a:rPr lang="en-US" sz="1100" dirty="0">
                <a:cs typeface="Sabon Next LT"/>
              </a:rPr>
              <a:t>    LOAD player sprite texture from "sprite.png"</a:t>
            </a:r>
            <a:endParaRPr lang="en-US" sz="1100" dirty="0">
              <a:solidFill>
                <a:srgbClr val="000000"/>
              </a:solidFill>
              <a:cs typeface="Sabon Next LT"/>
            </a:endParaRPr>
          </a:p>
          <a:p>
            <a:pPr marL="347345" indent="-347345"/>
            <a:r>
              <a:rPr lang="en-US" sz="1100" dirty="0">
                <a:cs typeface="Sabon Next LT"/>
              </a:rPr>
              <a:t>    CREATE board sprite, position at (0, 0)</a:t>
            </a:r>
            <a:endParaRPr lang="en-US" sz="1100" dirty="0">
              <a:solidFill>
                <a:srgbClr val="000000"/>
              </a:solidFill>
              <a:cs typeface="Sabon Next LT"/>
            </a:endParaRPr>
          </a:p>
          <a:p>
            <a:pPr marL="347345" indent="-347345"/>
            <a:r>
              <a:rPr lang="en-US" sz="1100" dirty="0">
                <a:cs typeface="Sabon Next LT"/>
              </a:rPr>
              <a:t>    CREATE pawn sprite, set size to (80, 80), position at (0, 710)</a:t>
            </a:r>
            <a:endParaRPr lang="en-US" sz="1100" dirty="0">
              <a:solidFill>
                <a:srgbClr val="000000"/>
              </a:solidFill>
              <a:cs typeface="Sabon Next LT"/>
            </a:endParaRPr>
          </a:p>
          <a:p>
            <a:pPr marL="347345" indent="-347345"/>
            <a:r>
              <a:rPr lang="en-US" sz="1100" dirty="0">
                <a:cs typeface="Sabon Next LT"/>
              </a:rPr>
              <a:t>    </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
        <p:nvSpPr>
          <p:cNvPr id="4" name="TextBox 3">
            <a:extLst>
              <a:ext uri="{FF2B5EF4-FFF2-40B4-BE49-F238E27FC236}">
                <a16:creationId xmlns:a16="http://schemas.microsoft.com/office/drawing/2014/main" id="{7B09CF7D-28A6-ACD5-4916-2D6E789610B6}"/>
              </a:ext>
            </a:extLst>
          </p:cNvPr>
          <p:cNvSpPr txBox="1"/>
          <p:nvPr/>
        </p:nvSpPr>
        <p:spPr>
          <a:xfrm>
            <a:off x="4724401" y="692551"/>
            <a:ext cx="2743200" cy="67249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7345" indent="-347345">
              <a:buFont typeface=""/>
              <a:buChar char="•"/>
            </a:pPr>
            <a:r>
              <a:rPr lang="en-US" sz="1100" dirty="0">
                <a:solidFill>
                  <a:schemeClr val="accent6"/>
                </a:solidFill>
                <a:cs typeface="Arial"/>
              </a:rPr>
              <a:t>SET UP die1 sprite with initial dice texture​</a:t>
            </a:r>
            <a:endParaRPr lang="en-US">
              <a:cs typeface="Sabon Next LT"/>
            </a:endParaRPr>
          </a:p>
          <a:p>
            <a:pPr marL="347345" indent="-347345">
              <a:buFont typeface=""/>
              <a:buChar char="•"/>
            </a:pPr>
            <a:r>
              <a:rPr lang="en-US" sz="1100" dirty="0">
                <a:solidFill>
                  <a:schemeClr val="accent6"/>
                </a:solidFill>
                <a:cs typeface="Arial"/>
              </a:rPr>
              <a:t>    POSITION die1 at (850, 250), scale to 0.25​</a:t>
            </a:r>
          </a:p>
          <a:p>
            <a:pPr marL="347345" indent="-347345">
              <a:buFont typeface=""/>
              <a:buChar char="•"/>
            </a:pPr>
            <a:r>
              <a:rPr lang="en-US" sz="1100" dirty="0">
                <a:solidFill>
                  <a:schemeClr val="accent6"/>
                </a:solidFill>
                <a:cs typeface="Arial"/>
              </a:rPr>
              <a:t>    CREATE roll dice button at (850, 445), size (120, 50), label it "Roll Dice"​</a:t>
            </a:r>
          </a:p>
          <a:p>
            <a:pPr marL="347345" indent="-347345">
              <a:buFont typeface=""/>
              <a:buChar char="•"/>
            </a:pPr>
            <a:endParaRPr lang="en-US" dirty="0">
              <a:solidFill>
                <a:schemeClr val="accent6"/>
              </a:solidFill>
              <a:latin typeface="Arial"/>
              <a:cs typeface="Arial"/>
            </a:endParaRPr>
          </a:p>
          <a:p>
            <a:pPr marL="347345" indent="-347345">
              <a:buFont typeface=""/>
              <a:buChar char="•"/>
            </a:pPr>
            <a:r>
              <a:rPr lang="en-US" sz="1100" dirty="0">
                <a:solidFill>
                  <a:schemeClr val="accent6"/>
                </a:solidFill>
                <a:cs typeface="Arial"/>
              </a:rPr>
              <a:t>    SET UP "You Win!" text with large red font​</a:t>
            </a:r>
          </a:p>
          <a:p>
            <a:pPr marL="347345" indent="-347345">
              <a:buFont typeface=""/>
              <a:buChar char="•"/>
            </a:pPr>
            <a:endParaRPr lang="en-US" dirty="0">
              <a:solidFill>
                <a:schemeClr val="accent6"/>
              </a:solidFill>
              <a:latin typeface="Arial"/>
              <a:cs typeface="Arial"/>
            </a:endParaRPr>
          </a:p>
          <a:p>
            <a:pPr marL="347345" indent="-347345">
              <a:buFont typeface=""/>
              <a:buChar char="•"/>
            </a:pPr>
            <a:r>
              <a:rPr lang="en-US" sz="1100" dirty="0">
                <a:solidFill>
                  <a:schemeClr val="accent6"/>
                </a:solidFill>
                <a:cs typeface="Arial"/>
              </a:rPr>
              <a:t>    INITIALIZE random number generator for dice rolls (1 to 6)​</a:t>
            </a:r>
          </a:p>
          <a:p>
            <a:pPr marL="347345" indent="-347345">
              <a:buFont typeface=""/>
              <a:buChar char="•"/>
            </a:pPr>
            <a:endParaRPr lang="en-US" dirty="0">
              <a:solidFill>
                <a:schemeClr val="accent6"/>
              </a:solidFill>
              <a:latin typeface="Arial"/>
              <a:cs typeface="Arial"/>
            </a:endParaRPr>
          </a:p>
          <a:p>
            <a:pPr marL="347345" indent="-347345">
              <a:buFont typeface=""/>
              <a:buChar char="•"/>
            </a:pPr>
            <a:r>
              <a:rPr lang="en-US" sz="1100" dirty="0">
                <a:solidFill>
                  <a:schemeClr val="accent6"/>
                </a:solidFill>
                <a:cs typeface="Arial"/>
              </a:rPr>
              <a:t>    DEFINE ladders: tile mappings where player moves up​</a:t>
            </a:r>
          </a:p>
          <a:p>
            <a:pPr marL="347345" indent="-347345">
              <a:buFont typeface=""/>
              <a:buChar char="•"/>
            </a:pPr>
            <a:r>
              <a:rPr lang="en-US" sz="1100" dirty="0">
                <a:solidFill>
                  <a:schemeClr val="accent6"/>
                </a:solidFill>
                <a:cs typeface="Arial"/>
              </a:rPr>
              <a:t>    DEFINE snakes: tile mappings where player moves down​</a:t>
            </a:r>
          </a:p>
          <a:p>
            <a:pPr marL="347345" indent="-347345">
              <a:buFont typeface=""/>
              <a:buChar char="•"/>
            </a:pPr>
            <a:endParaRPr lang="en-US" dirty="0">
              <a:solidFill>
                <a:schemeClr val="accent6"/>
              </a:solidFill>
              <a:latin typeface="Arial"/>
              <a:cs typeface="Arial"/>
            </a:endParaRPr>
          </a:p>
          <a:p>
            <a:pPr marL="347345" indent="-347345">
              <a:buFont typeface=""/>
              <a:buChar char="•"/>
            </a:pPr>
            <a:r>
              <a:rPr lang="en-US" sz="1100" dirty="0">
                <a:solidFill>
                  <a:schemeClr val="accent6"/>
                </a:solidFill>
                <a:cs typeface="Arial"/>
              </a:rPr>
              <a:t>    SET </a:t>
            </a:r>
            <a:r>
              <a:rPr lang="en-US" sz="1100" dirty="0" err="1">
                <a:solidFill>
                  <a:schemeClr val="accent6"/>
                </a:solidFill>
                <a:cs typeface="Arial"/>
              </a:rPr>
              <a:t>hasWon</a:t>
            </a:r>
            <a:r>
              <a:rPr lang="en-US" sz="1100" dirty="0">
                <a:solidFill>
                  <a:schemeClr val="accent6"/>
                </a:solidFill>
                <a:cs typeface="Arial"/>
              </a:rPr>
              <a:t> TO FALSE​</a:t>
            </a:r>
          </a:p>
          <a:p>
            <a:pPr marL="347345" indent="-347345">
              <a:buFont typeface=""/>
              <a:buChar char="•"/>
            </a:pPr>
            <a:endParaRPr lang="en-US" sz="1100" dirty="0">
              <a:solidFill>
                <a:schemeClr val="accent6"/>
              </a:solidFill>
              <a:ea typeface="+mn-lt"/>
              <a:cs typeface="Arial"/>
            </a:endParaRPr>
          </a:p>
          <a:p>
            <a:pPr marL="347345" indent="-347345">
              <a:buFont typeface=""/>
              <a:buChar char="•"/>
            </a:pPr>
            <a:r>
              <a:rPr lang="en-US" sz="1100" dirty="0">
                <a:solidFill>
                  <a:schemeClr val="accent6"/>
                </a:solidFill>
                <a:ea typeface="+mn-lt"/>
                <a:cs typeface="+mn-lt"/>
              </a:rPr>
              <a:t>WHILE window is open DO</a:t>
            </a:r>
            <a:endParaRPr lang="en-US" sz="1100">
              <a:solidFill>
                <a:schemeClr val="accent6"/>
              </a:solidFill>
              <a:latin typeface="Sabon Next LT"/>
              <a:cs typeface="Arial"/>
            </a:endParaRPr>
          </a:p>
          <a:p>
            <a:pPr>
              <a:buFont typeface="Arial"/>
              <a:buChar char="•"/>
            </a:pPr>
            <a:r>
              <a:rPr lang="en-US" sz="1100" dirty="0">
                <a:solidFill>
                  <a:schemeClr val="accent6"/>
                </a:solidFill>
                <a:ea typeface="+mn-lt"/>
                <a:cs typeface="+mn-lt"/>
              </a:rPr>
              <a:t>        FOR each event in window DO</a:t>
            </a:r>
            <a:endParaRPr lang="en-US" dirty="0">
              <a:solidFill>
                <a:schemeClr val="accent6"/>
              </a:solidFill>
              <a:cs typeface="Sabon Next LT"/>
            </a:endParaRPr>
          </a:p>
          <a:p>
            <a:pPr>
              <a:buFont typeface="Arial"/>
              <a:buChar char="•"/>
            </a:pPr>
            <a:r>
              <a:rPr lang="en-US" sz="1100" dirty="0">
                <a:solidFill>
                  <a:schemeClr val="accent6"/>
                </a:solidFill>
                <a:ea typeface="+mn-lt"/>
                <a:cs typeface="+mn-lt"/>
              </a:rPr>
              <a:t>            IF event is "window closed" THEN</a:t>
            </a:r>
            <a:endParaRPr lang="en-US" dirty="0">
              <a:solidFill>
                <a:schemeClr val="accent6"/>
              </a:solidFill>
              <a:cs typeface="Sabon Next LT"/>
            </a:endParaRPr>
          </a:p>
          <a:p>
            <a:pPr>
              <a:buFont typeface="Arial"/>
              <a:buChar char="•"/>
            </a:pPr>
            <a:r>
              <a:rPr lang="en-US" sz="1100" dirty="0">
                <a:solidFill>
                  <a:schemeClr val="accent6"/>
                </a:solidFill>
                <a:ea typeface="+mn-lt"/>
                <a:cs typeface="+mn-lt"/>
              </a:rPr>
              <a:t>                CLOSE window</a:t>
            </a:r>
            <a:endParaRPr lang="en-US" dirty="0">
              <a:solidFill>
                <a:schemeClr val="accent6"/>
              </a:solidFill>
              <a:cs typeface="Sabon Next LT"/>
            </a:endParaRPr>
          </a:p>
          <a:p>
            <a:pPr>
              <a:buFont typeface="Arial"/>
              <a:buChar char="•"/>
            </a:pPr>
            <a:r>
              <a:rPr lang="en-US" sz="1100" dirty="0">
                <a:solidFill>
                  <a:schemeClr val="accent6"/>
                </a:solidFill>
                <a:ea typeface="+mn-lt"/>
                <a:cs typeface="+mn-lt"/>
              </a:rPr>
              <a:t>            ENDIF</a:t>
            </a:r>
            <a:endParaRPr lang="en-US" dirty="0">
              <a:solidFill>
                <a:schemeClr val="accent6"/>
              </a:solidFill>
              <a:cs typeface="Sabon Next LT"/>
            </a:endParaRPr>
          </a:p>
          <a:p>
            <a:pPr>
              <a:buFont typeface="Arial"/>
              <a:buChar char="•"/>
            </a:pPr>
            <a:r>
              <a:rPr lang="en-US" sz="1100" dirty="0">
                <a:solidFill>
                  <a:schemeClr val="accent6"/>
                </a:solidFill>
                <a:ea typeface="+mn-lt"/>
                <a:cs typeface="+mn-lt"/>
              </a:rPr>
              <a:t>            IF event is "mouse button pressed" AND click is inside roll dice button THEN</a:t>
            </a:r>
            <a:endParaRPr lang="en-US" dirty="0">
              <a:solidFill>
                <a:schemeClr val="accent6"/>
              </a:solidFill>
              <a:cs typeface="Sabon Next LT"/>
            </a:endParaRPr>
          </a:p>
          <a:p>
            <a:pPr>
              <a:buFont typeface="Arial"/>
              <a:buChar char="•"/>
            </a:pPr>
            <a:r>
              <a:rPr lang="en-US" sz="1100" dirty="0">
                <a:solidFill>
                  <a:schemeClr val="accent6"/>
                </a:solidFill>
                <a:ea typeface="+mn-lt"/>
                <a:cs typeface="+mn-lt"/>
              </a:rPr>
              <a:t>                ROLL dice to get value from 1 to 6</a:t>
            </a:r>
            <a:endParaRPr lang="en-US" dirty="0">
              <a:solidFill>
                <a:schemeClr val="accent6"/>
              </a:solidFill>
              <a:cs typeface="Sabon Next LT"/>
            </a:endParaRPr>
          </a:p>
          <a:p>
            <a:pPr>
              <a:buFont typeface="Arial"/>
              <a:buChar char="•"/>
            </a:pPr>
            <a:r>
              <a:rPr lang="en-US" sz="1100" dirty="0">
                <a:solidFill>
                  <a:schemeClr val="accent6"/>
                </a:solidFill>
                <a:ea typeface="+mn-lt"/>
                <a:cs typeface="+mn-lt"/>
              </a:rPr>
              <a:t>                DISPLAY corresponding dice image</a:t>
            </a:r>
            <a:endParaRPr lang="en-US" dirty="0">
              <a:solidFill>
                <a:schemeClr val="accent6"/>
              </a:solidFill>
              <a:cs typeface="Sabon Next LT"/>
            </a:endParaRPr>
          </a:p>
          <a:p>
            <a:pPr>
              <a:buFont typeface="Arial"/>
              <a:buChar char="•"/>
            </a:pPr>
            <a:r>
              <a:rPr lang="en-US" sz="1100" dirty="0">
                <a:solidFill>
                  <a:schemeClr val="accent6"/>
                </a:solidFill>
                <a:ea typeface="+mn-lt"/>
                <a:cs typeface="+mn-lt"/>
              </a:rPr>
              <a:t>                CALCULATE </a:t>
            </a:r>
            <a:r>
              <a:rPr lang="en-US" sz="1100" dirty="0" err="1">
                <a:solidFill>
                  <a:schemeClr val="accent6"/>
                </a:solidFill>
                <a:ea typeface="+mn-lt"/>
                <a:cs typeface="+mn-lt"/>
              </a:rPr>
              <a:t>tempTile</a:t>
            </a:r>
            <a:r>
              <a:rPr lang="en-US" sz="1100" dirty="0">
                <a:solidFill>
                  <a:schemeClr val="accent6"/>
                </a:solidFill>
                <a:ea typeface="+mn-lt"/>
                <a:cs typeface="+mn-lt"/>
              </a:rPr>
              <a:t> = </a:t>
            </a:r>
            <a:r>
              <a:rPr lang="en-US" sz="1100" dirty="0" err="1">
                <a:solidFill>
                  <a:schemeClr val="accent6"/>
                </a:solidFill>
                <a:ea typeface="+mn-lt"/>
                <a:cs typeface="+mn-lt"/>
              </a:rPr>
              <a:t>currentTile</a:t>
            </a:r>
            <a:r>
              <a:rPr lang="en-US" sz="1100" dirty="0">
                <a:solidFill>
                  <a:schemeClr val="accent6"/>
                </a:solidFill>
                <a:ea typeface="+mn-lt"/>
                <a:cs typeface="+mn-lt"/>
              </a:rPr>
              <a:t> + dice value</a:t>
            </a:r>
            <a:endParaRPr lang="en-US" dirty="0">
              <a:solidFill>
                <a:schemeClr val="accent6"/>
              </a:solidFill>
              <a:cs typeface="Sabon Next LT"/>
            </a:endParaRPr>
          </a:p>
          <a:p>
            <a:pPr>
              <a:buFont typeface="Arial"/>
              <a:buChar char="•"/>
            </a:pPr>
            <a:endParaRPr lang="en-US" dirty="0">
              <a:solidFill>
                <a:schemeClr val="accent6"/>
              </a:solidFill>
              <a:cs typeface="Sabon Next LT"/>
            </a:endParaRPr>
          </a:p>
        </p:txBody>
      </p:sp>
      <p:sp>
        <p:nvSpPr>
          <p:cNvPr id="6" name="TextBox 5">
            <a:extLst>
              <a:ext uri="{FF2B5EF4-FFF2-40B4-BE49-F238E27FC236}">
                <a16:creationId xmlns:a16="http://schemas.microsoft.com/office/drawing/2014/main" id="{43DFF7BB-256B-7971-D881-E56BFCEA7C5A}"/>
              </a:ext>
            </a:extLst>
          </p:cNvPr>
          <p:cNvSpPr txBox="1"/>
          <p:nvPr/>
        </p:nvSpPr>
        <p:spPr>
          <a:xfrm>
            <a:off x="7511969" y="692552"/>
            <a:ext cx="2318795" cy="75559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Arial,Sans-Serif"/>
              <a:buChar char="•"/>
            </a:pPr>
            <a:r>
              <a:rPr lang="en-US" sz="1100" dirty="0">
                <a:solidFill>
                  <a:schemeClr val="accent6"/>
                </a:solidFill>
                <a:cs typeface="Arial"/>
              </a:rPr>
              <a:t>IF </a:t>
            </a:r>
            <a:r>
              <a:rPr lang="en-US" sz="1100" dirty="0" err="1">
                <a:solidFill>
                  <a:schemeClr val="accent6"/>
                </a:solidFill>
                <a:cs typeface="Arial"/>
              </a:rPr>
              <a:t>tempTile</a:t>
            </a:r>
            <a:r>
              <a:rPr lang="en-US" sz="1100" dirty="0">
                <a:solidFill>
                  <a:schemeClr val="accent6"/>
                </a:solidFill>
                <a:cs typeface="Arial"/>
              </a:rPr>
              <a:t> &gt; </a:t>
            </a:r>
            <a:r>
              <a:rPr lang="en-US" sz="1100" dirty="0" err="1">
                <a:solidFill>
                  <a:schemeClr val="accent6"/>
                </a:solidFill>
                <a:cs typeface="Arial"/>
              </a:rPr>
              <a:t>totalTiles</a:t>
            </a:r>
            <a:r>
              <a:rPr lang="en-US" sz="1100" dirty="0">
                <a:solidFill>
                  <a:schemeClr val="accent6"/>
                </a:solidFill>
                <a:cs typeface="Arial"/>
              </a:rPr>
              <a:t> THEN​</a:t>
            </a:r>
            <a:endParaRPr lang="en-US">
              <a:cs typeface="Sabon Next LT"/>
            </a:endParaRPr>
          </a:p>
          <a:p>
            <a:pPr marL="228600" indent="-228600">
              <a:buFont typeface="Arial,Sans-Serif"/>
              <a:buChar char="•"/>
            </a:pPr>
            <a:r>
              <a:rPr lang="en-US" sz="1100" dirty="0">
                <a:solidFill>
                  <a:schemeClr val="accent6"/>
                </a:solidFill>
                <a:cs typeface="Arial"/>
              </a:rPr>
              <a:t>                    PRINT "Cannot move, need exact roll"​</a:t>
            </a:r>
          </a:p>
          <a:p>
            <a:pPr marL="228600" indent="-228600">
              <a:buFont typeface="Arial,Sans-Serif"/>
              <a:buChar char="•"/>
            </a:pPr>
            <a:r>
              <a:rPr lang="en-US" sz="1100" dirty="0">
                <a:solidFill>
                  <a:schemeClr val="accent6"/>
                </a:solidFill>
                <a:cs typeface="Arial"/>
              </a:rPr>
              <a:t>                    CONTINUE to next loop​</a:t>
            </a:r>
          </a:p>
          <a:p>
            <a:pPr marL="228600" indent="-228600">
              <a:buFont typeface="Arial,Sans-Serif"/>
              <a:buChar char="•"/>
            </a:pPr>
            <a:r>
              <a:rPr lang="en-US" sz="1100" dirty="0">
                <a:solidFill>
                  <a:schemeClr val="accent6"/>
                </a:solidFill>
                <a:cs typeface="Arial"/>
              </a:rPr>
              <a:t>                ENDIF​</a:t>
            </a:r>
          </a:p>
          <a:p>
            <a:pPr marL="228600" indent="-228600">
              <a:buFont typeface="Arial,Sans-Serif"/>
              <a:buChar char="•"/>
            </a:pPr>
            <a:endParaRPr lang="en-US" dirty="0">
              <a:solidFill>
                <a:schemeClr val="accent6"/>
              </a:solidFill>
              <a:latin typeface="Arial"/>
              <a:cs typeface="Arial"/>
            </a:endParaRPr>
          </a:p>
          <a:p>
            <a:pPr marL="228600" indent="-228600">
              <a:buFont typeface="Arial,Sans-Serif"/>
              <a:buChar char="•"/>
            </a:pPr>
            <a:r>
              <a:rPr lang="en-US" sz="1100" dirty="0">
                <a:solidFill>
                  <a:schemeClr val="accent6"/>
                </a:solidFill>
                <a:cs typeface="Arial"/>
              </a:rPr>
              <a:t>                IF </a:t>
            </a:r>
            <a:r>
              <a:rPr lang="en-US" sz="1100" dirty="0" err="1">
                <a:solidFill>
                  <a:schemeClr val="accent6"/>
                </a:solidFill>
                <a:cs typeface="Arial"/>
              </a:rPr>
              <a:t>tempTile</a:t>
            </a:r>
            <a:r>
              <a:rPr lang="en-US" sz="1100" dirty="0">
                <a:solidFill>
                  <a:schemeClr val="accent6"/>
                </a:solidFill>
                <a:cs typeface="Arial"/>
              </a:rPr>
              <a:t> is on a ladder THEN​</a:t>
            </a:r>
          </a:p>
          <a:p>
            <a:pPr marL="228600" indent="-228600">
              <a:buFont typeface="Arial,Sans-Serif"/>
              <a:buChar char="•"/>
            </a:pPr>
            <a:r>
              <a:rPr lang="en-US" sz="1100" dirty="0">
                <a:solidFill>
                  <a:schemeClr val="accent6"/>
                </a:solidFill>
                <a:cs typeface="Arial"/>
              </a:rPr>
              <a:t>                    MOVE player to ladder destination​</a:t>
            </a:r>
          </a:p>
          <a:p>
            <a:pPr marL="228600" indent="-228600">
              <a:buFont typeface="Arial,Sans-Serif"/>
              <a:buChar char="•"/>
            </a:pPr>
            <a:r>
              <a:rPr lang="en-US" sz="1100" dirty="0">
                <a:solidFill>
                  <a:schemeClr val="accent6"/>
                </a:solidFill>
                <a:cs typeface="Arial"/>
              </a:rPr>
              <a:t>                ELSE IF </a:t>
            </a:r>
            <a:r>
              <a:rPr lang="en-US" sz="1100" dirty="0" err="1">
                <a:solidFill>
                  <a:schemeClr val="accent6"/>
                </a:solidFill>
                <a:cs typeface="Arial"/>
              </a:rPr>
              <a:t>tempTile</a:t>
            </a:r>
            <a:r>
              <a:rPr lang="en-US" sz="1100" dirty="0">
                <a:solidFill>
                  <a:schemeClr val="accent6"/>
                </a:solidFill>
                <a:cs typeface="Arial"/>
              </a:rPr>
              <a:t> is on a snake THEN​</a:t>
            </a:r>
          </a:p>
          <a:p>
            <a:pPr marL="228600" indent="-228600">
              <a:buFont typeface="Arial,Sans-Serif"/>
              <a:buChar char="•"/>
            </a:pPr>
            <a:r>
              <a:rPr lang="en-US" sz="1100" dirty="0">
                <a:solidFill>
                  <a:schemeClr val="accent6"/>
                </a:solidFill>
                <a:cs typeface="Arial"/>
              </a:rPr>
              <a:t>                    MOVE player to snake destination​</a:t>
            </a:r>
          </a:p>
          <a:p>
            <a:pPr marL="228600" indent="-228600">
              <a:buFont typeface="Arial,Sans-Serif"/>
              <a:buChar char="•"/>
            </a:pPr>
            <a:r>
              <a:rPr lang="en-US" sz="1100" dirty="0">
                <a:solidFill>
                  <a:schemeClr val="accent6"/>
                </a:solidFill>
                <a:cs typeface="Arial"/>
              </a:rPr>
              <a:t>                ELSE​</a:t>
            </a:r>
          </a:p>
          <a:p>
            <a:pPr marL="228600" indent="-228600">
              <a:buFont typeface="Arial,Sans-Serif"/>
              <a:buChar char="•"/>
            </a:pPr>
            <a:r>
              <a:rPr lang="en-US" sz="1100" dirty="0">
                <a:solidFill>
                  <a:schemeClr val="accent6"/>
                </a:solidFill>
                <a:cs typeface="Arial"/>
              </a:rPr>
              <a:t>                    SET </a:t>
            </a:r>
            <a:r>
              <a:rPr lang="en-US" sz="1100" dirty="0" err="1">
                <a:solidFill>
                  <a:schemeClr val="accent6"/>
                </a:solidFill>
                <a:cs typeface="Arial"/>
              </a:rPr>
              <a:t>currentTile</a:t>
            </a:r>
            <a:r>
              <a:rPr lang="en-US" sz="1100" dirty="0">
                <a:solidFill>
                  <a:schemeClr val="accent6"/>
                </a:solidFill>
                <a:cs typeface="Arial"/>
              </a:rPr>
              <a:t> = </a:t>
            </a:r>
            <a:r>
              <a:rPr lang="en-US" sz="1100" dirty="0" err="1">
                <a:solidFill>
                  <a:schemeClr val="accent6"/>
                </a:solidFill>
                <a:cs typeface="Arial"/>
              </a:rPr>
              <a:t>tempTile</a:t>
            </a:r>
            <a:r>
              <a:rPr lang="en-US" sz="1100" dirty="0">
                <a:solidFill>
                  <a:schemeClr val="accent6"/>
                </a:solidFill>
                <a:cs typeface="Arial"/>
              </a:rPr>
              <a:t>​</a:t>
            </a:r>
          </a:p>
          <a:p>
            <a:pPr marL="228600" indent="-228600">
              <a:buFont typeface="Arial,Sans-Serif"/>
              <a:buChar char="•"/>
            </a:pPr>
            <a:r>
              <a:rPr lang="en-US" sz="1100" dirty="0">
                <a:solidFill>
                  <a:schemeClr val="accent6"/>
                </a:solidFill>
                <a:cs typeface="Arial"/>
              </a:rPr>
              <a:t>                ENDIF​</a:t>
            </a:r>
          </a:p>
          <a:p>
            <a:pPr marL="228600" indent="-228600">
              <a:buFont typeface="Arial,Sans-Serif"/>
              <a:buChar char="•"/>
            </a:pPr>
            <a:endParaRPr lang="en-US" dirty="0">
              <a:solidFill>
                <a:schemeClr val="accent6"/>
              </a:solidFill>
              <a:latin typeface="Arial"/>
              <a:cs typeface="Arial"/>
            </a:endParaRPr>
          </a:p>
          <a:p>
            <a:pPr marL="228600" indent="-228600">
              <a:buFont typeface="Arial,Sans-Serif"/>
              <a:buChar char="•"/>
            </a:pPr>
            <a:r>
              <a:rPr lang="en-US" sz="1100" dirty="0">
                <a:solidFill>
                  <a:schemeClr val="accent6"/>
                </a:solidFill>
                <a:cs typeface="Arial"/>
              </a:rPr>
              <a:t>                CALCULATE board position:​</a:t>
            </a:r>
          </a:p>
          <a:p>
            <a:pPr marL="228600" indent="-228600">
              <a:buFont typeface="Arial,Sans-Serif"/>
              <a:buChar char="•"/>
            </a:pPr>
            <a:r>
              <a:rPr lang="en-US" sz="1100" dirty="0">
                <a:solidFill>
                  <a:schemeClr val="accent6"/>
                </a:solidFill>
                <a:cs typeface="Arial"/>
              </a:rPr>
              <a:t>                    row = (</a:t>
            </a:r>
            <a:r>
              <a:rPr lang="en-US" sz="1100" dirty="0" err="1">
                <a:solidFill>
                  <a:schemeClr val="accent6"/>
                </a:solidFill>
                <a:cs typeface="Arial"/>
              </a:rPr>
              <a:t>currentTile</a:t>
            </a:r>
            <a:r>
              <a:rPr lang="en-US" sz="1100" dirty="0">
                <a:solidFill>
                  <a:schemeClr val="accent6"/>
                </a:solidFill>
                <a:cs typeface="Arial"/>
              </a:rPr>
              <a:t> - 1) / cols​</a:t>
            </a:r>
          </a:p>
          <a:p>
            <a:pPr marL="228600" indent="-228600">
              <a:buFont typeface="Arial,Sans-Serif"/>
              <a:buChar char="•"/>
            </a:pPr>
            <a:r>
              <a:rPr lang="en-US" sz="1100" dirty="0">
                <a:solidFill>
                  <a:schemeClr val="accent6"/>
                </a:solidFill>
                <a:cs typeface="Arial"/>
              </a:rPr>
              <a:t>                    col = (</a:t>
            </a:r>
            <a:r>
              <a:rPr lang="en-US" sz="1100" dirty="0" err="1">
                <a:solidFill>
                  <a:schemeClr val="accent6"/>
                </a:solidFill>
                <a:cs typeface="Arial"/>
              </a:rPr>
              <a:t>currentTile</a:t>
            </a:r>
            <a:r>
              <a:rPr lang="en-US" sz="1100" dirty="0">
                <a:solidFill>
                  <a:schemeClr val="accent6"/>
                </a:solidFill>
                <a:cs typeface="Arial"/>
              </a:rPr>
              <a:t> - 1) % cols​</a:t>
            </a:r>
          </a:p>
          <a:p>
            <a:pPr marL="228600" indent="-228600">
              <a:buFont typeface="Arial,Sans-Serif"/>
              <a:buChar char="•"/>
            </a:pPr>
            <a:endParaRPr lang="en-US" dirty="0">
              <a:solidFill>
                <a:schemeClr val="accent6"/>
              </a:solidFill>
              <a:latin typeface="Arial"/>
              <a:cs typeface="Arial"/>
            </a:endParaRPr>
          </a:p>
          <a:p>
            <a:pPr marL="228600" indent="-228600">
              <a:buFont typeface="Arial,Sans-Serif"/>
              <a:buChar char="•"/>
            </a:pPr>
            <a:r>
              <a:rPr lang="en-US" sz="1100" dirty="0">
                <a:solidFill>
                  <a:schemeClr val="accent6"/>
                </a:solidFill>
                <a:cs typeface="Arial"/>
              </a:rPr>
              <a:t>                    IF row is odd THEN​</a:t>
            </a:r>
          </a:p>
          <a:p>
            <a:pPr marL="228600" indent="-228600">
              <a:buFont typeface="Arial,Sans-Serif"/>
              <a:buChar char="•"/>
            </a:pPr>
            <a:r>
              <a:rPr lang="en-US" sz="1100" dirty="0">
                <a:solidFill>
                  <a:schemeClr val="accent6"/>
                </a:solidFill>
                <a:cs typeface="Arial"/>
              </a:rPr>
              <a:t>                        col = (cols - 1) - col  // zigzag movement​</a:t>
            </a:r>
          </a:p>
          <a:p>
            <a:pPr marL="228600" indent="-228600">
              <a:buFont typeface="Arial,Sans-Serif"/>
              <a:buChar char="•"/>
            </a:pPr>
            <a:r>
              <a:rPr lang="en-US" sz="1100" dirty="0">
                <a:solidFill>
                  <a:schemeClr val="accent6"/>
                </a:solidFill>
                <a:cs typeface="Arial"/>
              </a:rPr>
              <a:t>                    ENDIF​</a:t>
            </a:r>
          </a:p>
          <a:p>
            <a:pPr marL="228600" indent="-228600">
              <a:buFont typeface="Arial,Sans-Serif"/>
              <a:buChar char="•"/>
            </a:pPr>
            <a:endParaRPr lang="en-US" dirty="0">
              <a:solidFill>
                <a:schemeClr val="accent6"/>
              </a:solidFill>
              <a:latin typeface="Arial"/>
              <a:cs typeface="Arial"/>
            </a:endParaRPr>
          </a:p>
          <a:p>
            <a:pPr marL="228600" indent="-228600">
              <a:buFont typeface="Arial,Sans-Serif"/>
              <a:buChar char="•"/>
            </a:pPr>
            <a:r>
              <a:rPr lang="en-US" sz="1100" dirty="0">
                <a:solidFill>
                  <a:schemeClr val="accent6"/>
                </a:solidFill>
                <a:cs typeface="Arial"/>
              </a:rPr>
              <a:t>                    SET sprite position based on row and col​</a:t>
            </a:r>
          </a:p>
          <a:p>
            <a:pPr marL="228600" indent="-228600">
              <a:buFont typeface="Arial,Sans-Serif"/>
              <a:buChar char="•"/>
            </a:pPr>
            <a:endParaRPr lang="en-US" dirty="0">
              <a:solidFill>
                <a:schemeClr val="accent6"/>
              </a:solidFill>
              <a:latin typeface="Arial"/>
              <a:cs typeface="Arial"/>
            </a:endParaRPr>
          </a:p>
          <a:p>
            <a:pPr marL="347345" indent="-347345">
              <a:buFont typeface=""/>
              <a:buChar char="•"/>
            </a:pPr>
            <a:endParaRPr lang="en-US" sz="1100" dirty="0">
              <a:solidFill>
                <a:schemeClr val="accent6"/>
              </a:solidFill>
              <a:cs typeface="Sabon Next LT"/>
            </a:endParaRPr>
          </a:p>
          <a:p>
            <a:endParaRPr lang="en-US" dirty="0">
              <a:solidFill>
                <a:schemeClr val="accent6"/>
              </a:solidFill>
              <a:latin typeface="Arial"/>
              <a:cs typeface="Arial"/>
            </a:endParaRPr>
          </a:p>
          <a:p>
            <a:pPr marL="347345" indent="-347345">
              <a:buFont typeface=""/>
              <a:buChar char="•"/>
            </a:pPr>
            <a:endParaRPr lang="en-US" dirty="0">
              <a:solidFill>
                <a:schemeClr val="accent6"/>
              </a:solidFill>
              <a:latin typeface="Arial"/>
              <a:cs typeface="Arial"/>
            </a:endParaRPr>
          </a:p>
          <a:p>
            <a:pPr marL="347345" indent="-347345">
              <a:buFont typeface=""/>
              <a:buChar char="•"/>
            </a:pPr>
            <a:endParaRPr lang="en-US" dirty="0">
              <a:solidFill>
                <a:schemeClr val="accent6"/>
              </a:solidFill>
              <a:latin typeface="Arial"/>
              <a:cs typeface="Arial"/>
            </a:endParaRPr>
          </a:p>
        </p:txBody>
      </p:sp>
      <p:sp>
        <p:nvSpPr>
          <p:cNvPr id="8" name="TextBox 7">
            <a:extLst>
              <a:ext uri="{FF2B5EF4-FFF2-40B4-BE49-F238E27FC236}">
                <a16:creationId xmlns:a16="http://schemas.microsoft.com/office/drawing/2014/main" id="{0EC1EE9D-990D-E7AB-543C-C55400A57F17}"/>
              </a:ext>
            </a:extLst>
          </p:cNvPr>
          <p:cNvSpPr txBox="1"/>
          <p:nvPr/>
        </p:nvSpPr>
        <p:spPr>
          <a:xfrm>
            <a:off x="9971591" y="808298"/>
            <a:ext cx="2077656" cy="4431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Arial,Sans-Serif"/>
              <a:buChar char="•"/>
            </a:pPr>
            <a:endParaRPr lang="en-US" dirty="0">
              <a:solidFill>
                <a:schemeClr val="accent6"/>
              </a:solidFill>
              <a:latin typeface="Arial"/>
              <a:cs typeface="Arial"/>
            </a:endParaRPr>
          </a:p>
          <a:p>
            <a:pPr marL="228600" indent="-228600">
              <a:buFont typeface="Arial,Sans-Serif"/>
              <a:buChar char="•"/>
            </a:pPr>
            <a:r>
              <a:rPr lang="en-US" sz="1100" dirty="0">
                <a:solidFill>
                  <a:schemeClr val="accent6"/>
                </a:solidFill>
                <a:cs typeface="Arial"/>
              </a:rPr>
              <a:t>                IF </a:t>
            </a:r>
            <a:r>
              <a:rPr lang="en-US" sz="1100" err="1">
                <a:solidFill>
                  <a:schemeClr val="accent6"/>
                </a:solidFill>
                <a:cs typeface="Arial"/>
              </a:rPr>
              <a:t>currentTile</a:t>
            </a:r>
            <a:r>
              <a:rPr lang="en-US" sz="1100" dirty="0">
                <a:solidFill>
                  <a:schemeClr val="accent6"/>
                </a:solidFill>
                <a:cs typeface="Arial"/>
              </a:rPr>
              <a:t> == </a:t>
            </a:r>
            <a:r>
              <a:rPr lang="en-US" sz="1100" err="1">
                <a:solidFill>
                  <a:schemeClr val="accent6"/>
                </a:solidFill>
                <a:cs typeface="Arial"/>
              </a:rPr>
              <a:t>totalTiles</a:t>
            </a:r>
            <a:r>
              <a:rPr lang="en-US" sz="1100" dirty="0">
                <a:solidFill>
                  <a:schemeClr val="accent6"/>
                </a:solidFill>
                <a:cs typeface="Arial"/>
              </a:rPr>
              <a:t> THEN​​</a:t>
            </a:r>
          </a:p>
          <a:p>
            <a:pPr marL="228600" indent="-228600">
              <a:buFont typeface="Arial,Sans-Serif"/>
              <a:buChar char="•"/>
            </a:pPr>
            <a:r>
              <a:rPr lang="en-US" sz="1100" dirty="0">
                <a:solidFill>
                  <a:schemeClr val="accent6"/>
                </a:solidFill>
                <a:cs typeface="Arial"/>
              </a:rPr>
              <a:t>                    SET </a:t>
            </a:r>
            <a:r>
              <a:rPr lang="en-US" sz="1100" err="1">
                <a:solidFill>
                  <a:schemeClr val="accent6"/>
                </a:solidFill>
                <a:cs typeface="Arial"/>
              </a:rPr>
              <a:t>hasWon</a:t>
            </a:r>
            <a:r>
              <a:rPr lang="en-US" sz="1100" dirty="0">
                <a:solidFill>
                  <a:schemeClr val="accent6"/>
                </a:solidFill>
                <a:cs typeface="Arial"/>
              </a:rPr>
              <a:t> TO TRUE​​</a:t>
            </a:r>
          </a:p>
          <a:p>
            <a:pPr marL="228600" indent="-228600">
              <a:buFont typeface="Arial,Sans-Serif"/>
              <a:buChar char="•"/>
            </a:pPr>
            <a:r>
              <a:rPr lang="en-US" sz="1100" dirty="0">
                <a:solidFill>
                  <a:schemeClr val="accent6"/>
                </a:solidFill>
                <a:cs typeface="Arial"/>
              </a:rPr>
              <a:t>                    PRINT "You Win!"​​</a:t>
            </a:r>
          </a:p>
          <a:p>
            <a:pPr marL="228600" indent="-228600">
              <a:buFont typeface="Arial,Sans-Serif"/>
              <a:buChar char="•"/>
            </a:pPr>
            <a:r>
              <a:rPr lang="en-US" sz="1100" dirty="0">
                <a:solidFill>
                  <a:schemeClr val="accent6"/>
                </a:solidFill>
                <a:cs typeface="Arial"/>
              </a:rPr>
              <a:t>                ENDIF​​</a:t>
            </a:r>
          </a:p>
          <a:p>
            <a:pPr marL="228600" indent="-228600">
              <a:buFont typeface="Arial,Sans-Serif"/>
              <a:buChar char="•"/>
            </a:pPr>
            <a:r>
              <a:rPr lang="en-US" sz="1100" dirty="0">
                <a:solidFill>
                  <a:schemeClr val="accent6"/>
                </a:solidFill>
                <a:cs typeface="Arial"/>
              </a:rPr>
              <a:t>            ENDIF​​</a:t>
            </a:r>
          </a:p>
          <a:p>
            <a:pPr marL="347345" indent="-347345">
              <a:buFont typeface=""/>
              <a:buChar char="•"/>
            </a:pPr>
            <a:r>
              <a:rPr lang="en-US" sz="1100" dirty="0">
                <a:solidFill>
                  <a:schemeClr val="accent6"/>
                </a:solidFill>
                <a:cs typeface="Arial"/>
              </a:rPr>
              <a:t>        ENDFOR​​</a:t>
            </a:r>
          </a:p>
          <a:p>
            <a:pPr>
              <a:buFont typeface="Arial,Sans-Serif"/>
              <a:buChar char="•"/>
            </a:pPr>
            <a:r>
              <a:rPr lang="en-US" sz="1100" dirty="0">
                <a:solidFill>
                  <a:schemeClr val="accent6"/>
                </a:solidFill>
                <a:cs typeface="Arial"/>
              </a:rPr>
              <a:t>CLEAR screen with brown color​</a:t>
            </a:r>
          </a:p>
          <a:p>
            <a:pPr marL="228600" indent="-228600">
              <a:buFont typeface="Arial,Sans-Serif"/>
              <a:buChar char="•"/>
            </a:pPr>
            <a:r>
              <a:rPr lang="en-US" sz="1100" dirty="0">
                <a:solidFill>
                  <a:schemeClr val="accent6"/>
                </a:solidFill>
                <a:cs typeface="Arial"/>
              </a:rPr>
              <a:t>        DRAW board grid (horizontal and vertical lines)​</a:t>
            </a:r>
          </a:p>
          <a:p>
            <a:pPr marL="228600" indent="-228600">
              <a:buFont typeface="Arial,Sans-Serif"/>
              <a:buChar char="•"/>
            </a:pPr>
            <a:r>
              <a:rPr lang="en-US" sz="1100" dirty="0">
                <a:solidFill>
                  <a:schemeClr val="accent6"/>
                </a:solidFill>
                <a:cs typeface="Arial"/>
              </a:rPr>
              <a:t>        DRAW board, die, pawn, button, and text​</a:t>
            </a:r>
          </a:p>
          <a:p>
            <a:pPr marL="228600" indent="-228600">
              <a:buFont typeface="Arial,Sans-Serif"/>
              <a:buChar char="•"/>
            </a:pPr>
            <a:r>
              <a:rPr lang="en-US" sz="1100" dirty="0">
                <a:solidFill>
                  <a:schemeClr val="accent6"/>
                </a:solidFill>
                <a:cs typeface="Arial"/>
              </a:rPr>
              <a:t>        IF </a:t>
            </a:r>
            <a:r>
              <a:rPr lang="en-US" sz="1100" err="1">
                <a:solidFill>
                  <a:schemeClr val="accent6"/>
                </a:solidFill>
                <a:cs typeface="Arial"/>
              </a:rPr>
              <a:t>hasWon</a:t>
            </a:r>
            <a:r>
              <a:rPr lang="en-US" sz="1100" dirty="0">
                <a:solidFill>
                  <a:schemeClr val="accent6"/>
                </a:solidFill>
                <a:cs typeface="Arial"/>
              </a:rPr>
              <a:t> THEN​</a:t>
            </a:r>
          </a:p>
          <a:p>
            <a:pPr marL="228600" indent="-228600">
              <a:buFont typeface="Arial,Sans-Serif"/>
              <a:buChar char="•"/>
            </a:pPr>
            <a:r>
              <a:rPr lang="en-US" sz="1100" dirty="0">
                <a:solidFill>
                  <a:schemeClr val="accent6"/>
                </a:solidFill>
                <a:cs typeface="Arial"/>
              </a:rPr>
              <a:t>            DISPLAY "You Win!" message​</a:t>
            </a:r>
          </a:p>
          <a:p>
            <a:pPr marL="228600" indent="-228600">
              <a:buFont typeface="Arial,Sans-Serif"/>
              <a:buChar char="•"/>
            </a:pPr>
            <a:r>
              <a:rPr lang="en-US" sz="1100" dirty="0">
                <a:solidFill>
                  <a:schemeClr val="accent6"/>
                </a:solidFill>
                <a:cs typeface="Arial"/>
              </a:rPr>
              <a:t>        ENDIF​</a:t>
            </a:r>
          </a:p>
          <a:p>
            <a:pPr marL="228600" indent="-228600">
              <a:buFont typeface="Arial,Sans-Serif"/>
              <a:buChar char="•"/>
            </a:pPr>
            <a:r>
              <a:rPr lang="en-US" sz="1100" dirty="0">
                <a:solidFill>
                  <a:schemeClr val="accent6"/>
                </a:solidFill>
                <a:cs typeface="Arial"/>
              </a:rPr>
              <a:t>        DISPLAY updated frame​</a:t>
            </a:r>
          </a:p>
          <a:p>
            <a:pPr marL="228600" indent="-228600">
              <a:buFont typeface="Arial,Sans-Serif"/>
              <a:buChar char="•"/>
            </a:pPr>
            <a:r>
              <a:rPr lang="en-US" sz="1100" dirty="0">
                <a:solidFill>
                  <a:schemeClr val="accent6"/>
                </a:solidFill>
                <a:cs typeface="Arial"/>
              </a:rPr>
              <a:t>    ENDWHILE​</a:t>
            </a:r>
          </a:p>
          <a:p>
            <a:pPr marL="347345" indent="-347345">
              <a:buFont typeface=""/>
              <a:buChar char="•"/>
            </a:pPr>
            <a:r>
              <a:rPr lang="en-US" sz="1100" dirty="0">
                <a:solidFill>
                  <a:schemeClr val="accent6"/>
                </a:solidFill>
                <a:cs typeface="Arial"/>
              </a:rPr>
              <a:t>ENDPROGRAM</a:t>
            </a:r>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6718328" y="-804321"/>
            <a:ext cx="7043617" cy="2520217"/>
          </a:xfrm>
        </p:spPr>
        <p:txBody>
          <a:bodyPr/>
          <a:lstStyle/>
          <a:p>
            <a:r>
              <a:rPr lang="en-US" dirty="0"/>
              <a:t>Code Outputs</a:t>
            </a:r>
            <a:br>
              <a:rPr lang="en-US" dirty="0"/>
            </a:br>
            <a:r>
              <a:rPr lang="en-US" dirty="0"/>
              <a:t>Pt1</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dirty="0"/>
          </a:p>
        </p:txBody>
      </p:sp>
      <p:pic>
        <p:nvPicPr>
          <p:cNvPr id="8" name="Picture 7" descr="A screenshot of a game&#10;&#10;AI-generated content may be incorrect.">
            <a:extLst>
              <a:ext uri="{FF2B5EF4-FFF2-40B4-BE49-F238E27FC236}">
                <a16:creationId xmlns:a16="http://schemas.microsoft.com/office/drawing/2014/main" id="{D7A83248-E3F0-5E9B-4125-8AE5F295F9E7}"/>
              </a:ext>
            </a:extLst>
          </p:cNvPr>
          <p:cNvPicPr>
            <a:picLocks noChangeAspect="1"/>
          </p:cNvPicPr>
          <p:nvPr/>
        </p:nvPicPr>
        <p:blipFill>
          <a:blip r:embed="rId3"/>
          <a:stretch>
            <a:fillRect/>
          </a:stretch>
        </p:blipFill>
        <p:spPr>
          <a:xfrm>
            <a:off x="163975" y="453341"/>
            <a:ext cx="6279267" cy="4436962"/>
          </a:xfrm>
          <a:prstGeom prst="rect">
            <a:avLst/>
          </a:prstGeom>
        </p:spPr>
      </p:pic>
      <p:pic>
        <p:nvPicPr>
          <p:cNvPr id="9" name="Picture 8" descr="A screenshot of a game&#10;&#10;AI-generated content may be incorrect.">
            <a:extLst>
              <a:ext uri="{FF2B5EF4-FFF2-40B4-BE49-F238E27FC236}">
                <a16:creationId xmlns:a16="http://schemas.microsoft.com/office/drawing/2014/main" id="{9A8CE37D-9883-8222-45B7-E7C0251555AF}"/>
              </a:ext>
            </a:extLst>
          </p:cNvPr>
          <p:cNvPicPr>
            <a:picLocks noChangeAspect="1"/>
          </p:cNvPicPr>
          <p:nvPr/>
        </p:nvPicPr>
        <p:blipFill>
          <a:blip r:embed="rId4"/>
          <a:stretch>
            <a:fillRect/>
          </a:stretch>
        </p:blipFill>
        <p:spPr>
          <a:xfrm>
            <a:off x="4948176" y="2565721"/>
            <a:ext cx="7041266" cy="4166886"/>
          </a:xfrm>
          <a:prstGeom prst="rect">
            <a:avLst/>
          </a:prstGeom>
        </p:spPr>
      </p:pic>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142753" y="497040"/>
            <a:ext cx="7796464" cy="1222385"/>
          </a:xfrm>
        </p:spPr>
        <p:txBody>
          <a:bodyPr/>
          <a:lstStyle/>
          <a:p>
            <a:r>
              <a:rPr lang="en-US" dirty="0"/>
              <a:t>Code Outputs</a:t>
            </a:r>
            <a:br>
              <a:rPr lang="en-US" dirty="0"/>
            </a:br>
            <a:r>
              <a:rPr lang="en-US" dirty="0"/>
              <a:t>Pt2</a:t>
            </a:r>
            <a:endParaRPr lang="en-US" b="0" dirty="0">
              <a:solidFill>
                <a:srgbClr val="000000"/>
              </a:solidFill>
            </a:endParaRP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1046146" y="129250"/>
            <a:ext cx="987552" cy="471489"/>
          </a:xfrm>
        </p:spPr>
        <p:txBody>
          <a:bodyPr/>
          <a:lstStyle/>
          <a:p>
            <a:fld id="{48F63A3B-78C7-47BE-AE5E-E10140E04643}" type="slidenum">
              <a:rPr lang="en-US" smtClean="0"/>
              <a:pPr/>
              <a:t>7</a:t>
            </a:fld>
            <a:endParaRPr lang="en-US" dirty="0"/>
          </a:p>
        </p:txBody>
      </p:sp>
      <p:pic>
        <p:nvPicPr>
          <p:cNvPr id="8" name="Picture 7" descr="A screenshot of a game&#10;&#10;AI-generated content may be incorrect.">
            <a:extLst>
              <a:ext uri="{FF2B5EF4-FFF2-40B4-BE49-F238E27FC236}">
                <a16:creationId xmlns:a16="http://schemas.microsoft.com/office/drawing/2014/main" id="{B1CF719D-E946-030D-9A0E-3F8D164C1159}"/>
              </a:ext>
            </a:extLst>
          </p:cNvPr>
          <p:cNvPicPr>
            <a:picLocks noChangeAspect="1"/>
          </p:cNvPicPr>
          <p:nvPr/>
        </p:nvPicPr>
        <p:blipFill>
          <a:blip r:embed="rId3"/>
          <a:stretch>
            <a:fillRect/>
          </a:stretch>
        </p:blipFill>
        <p:spPr>
          <a:xfrm>
            <a:off x="144683" y="2536785"/>
            <a:ext cx="7465671" cy="4195823"/>
          </a:xfrm>
          <a:prstGeom prst="rect">
            <a:avLst/>
          </a:prstGeom>
        </p:spPr>
      </p:pic>
      <p:pic>
        <p:nvPicPr>
          <p:cNvPr id="10" name="Picture 9" descr="A screenshot of a game&#10;&#10;AI-generated content may be incorrect.">
            <a:extLst>
              <a:ext uri="{FF2B5EF4-FFF2-40B4-BE49-F238E27FC236}">
                <a16:creationId xmlns:a16="http://schemas.microsoft.com/office/drawing/2014/main" id="{792DBFA9-FB9F-A4FF-F051-1BE93579CFAD}"/>
              </a:ext>
            </a:extLst>
          </p:cNvPr>
          <p:cNvPicPr>
            <a:picLocks noChangeAspect="1"/>
          </p:cNvPicPr>
          <p:nvPr/>
        </p:nvPicPr>
        <p:blipFill>
          <a:blip r:embed="rId4"/>
          <a:stretch>
            <a:fillRect/>
          </a:stretch>
        </p:blipFill>
        <p:spPr>
          <a:xfrm>
            <a:off x="4408025" y="221848"/>
            <a:ext cx="7340279" cy="4022205"/>
          </a:xfrm>
          <a:prstGeom prst="rect">
            <a:avLst/>
          </a:prstGeom>
        </p:spPr>
      </p:pic>
    </p:spTree>
    <p:extLst>
      <p:ext uri="{BB962C8B-B14F-4D97-AF65-F5344CB8AC3E}">
        <p14:creationId xmlns:p14="http://schemas.microsoft.com/office/powerpoint/2010/main" val="2468595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4923322" y="-92125"/>
            <a:ext cx="7631709" cy="1091627"/>
          </a:xfrm>
        </p:spPr>
        <p:txBody>
          <a:bodyPr/>
          <a:lstStyle/>
          <a:p>
            <a:r>
              <a:rPr lang="en-US" dirty="0"/>
              <a:t>Video:</a:t>
            </a:r>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pic>
        <p:nvPicPr>
          <p:cNvPr id="11" name="2025-04-08 21-42-12">
            <a:hlinkClick r:id="" action="ppaction://media"/>
            <a:extLst>
              <a:ext uri="{FF2B5EF4-FFF2-40B4-BE49-F238E27FC236}">
                <a16:creationId xmlns:a16="http://schemas.microsoft.com/office/drawing/2014/main" id="{24369CC6-1AA3-2E76-B082-7A17C0BC99FD}"/>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130852" y="1006061"/>
            <a:ext cx="9753600" cy="5486400"/>
          </a:xfrm>
          <a:prstGeom prst="rect">
            <a:avLst/>
          </a:prstGeom>
        </p:spPr>
      </p:pic>
    </p:spTree>
    <p:extLst>
      <p:ext uri="{BB962C8B-B14F-4D97-AF65-F5344CB8AC3E}">
        <p14:creationId xmlns:p14="http://schemas.microsoft.com/office/powerpoint/2010/main" val="1941619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914400" y="-47074"/>
            <a:ext cx="10511627" cy="1012785"/>
          </a:xfrm>
        </p:spPr>
        <p:txBody>
          <a:bodyPr/>
          <a:lstStyle/>
          <a:p>
            <a:r>
              <a:rPr lang="en-US" dirty="0"/>
              <a:t>Conclusion</a:t>
            </a:r>
          </a:p>
        </p:txBody>
      </p:sp>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dirty="0"/>
          </a:p>
        </p:txBody>
      </p:sp>
      <p:sp>
        <p:nvSpPr>
          <p:cNvPr id="6" name="Content Placeholder 5">
            <a:extLst>
              <a:ext uri="{FF2B5EF4-FFF2-40B4-BE49-F238E27FC236}">
                <a16:creationId xmlns:a16="http://schemas.microsoft.com/office/drawing/2014/main" id="{F429D073-9727-B9F2-AD09-519A29A10432}"/>
              </a:ext>
            </a:extLst>
          </p:cNvPr>
          <p:cNvSpPr>
            <a:spLocks noGrp="1"/>
          </p:cNvSpPr>
          <p:nvPr>
            <p:ph sz="quarter" idx="4"/>
          </p:nvPr>
        </p:nvSpPr>
        <p:spPr>
          <a:xfrm>
            <a:off x="837096" y="1719721"/>
            <a:ext cx="10511627" cy="3782904"/>
          </a:xfrm>
        </p:spPr>
        <p:txBody>
          <a:bodyPr vert="horz" lIns="91440" tIns="91440" rIns="91440" bIns="91440" rtlCol="0" anchor="t">
            <a:normAutofit/>
          </a:bodyPr>
          <a:lstStyle/>
          <a:p>
            <a:pPr marL="0" indent="0">
              <a:buNone/>
            </a:pPr>
            <a:r>
              <a:rPr lang="en-US" dirty="0">
                <a:cs typeface="Sabon Next LT"/>
              </a:rPr>
              <a:t>From our work, we have learned many new skills in coding like integrating SFML, the graphical user interface we used, into C++.  Creating a game from scratch is a daunting task but using the skills we have learned in this class has allowed us to overcome this challenge.  </a:t>
            </a:r>
          </a:p>
          <a:p>
            <a:pPr marL="0" indent="0">
              <a:buNone/>
            </a:pPr>
            <a:endParaRPr lang="en-US" dirty="0">
              <a:cs typeface="Sabon Next LT"/>
            </a:endParaRPr>
          </a:p>
          <a:p>
            <a:pPr marL="0" indent="0">
              <a:buNone/>
            </a:pPr>
            <a:r>
              <a:rPr lang="en-US" dirty="0">
                <a:cs typeface="Sabon Next LT"/>
              </a:rPr>
              <a:t>Some techniques we could use to improve our work would be coding this project in Microsoft Visual Code, which allows for easier integration with the graphical user interface we used and creating a more visual appealing graphical user interface.</a:t>
            </a:r>
          </a:p>
        </p:txBody>
      </p:sp>
    </p:spTree>
    <p:extLst>
      <p:ext uri="{BB962C8B-B14F-4D97-AF65-F5344CB8AC3E}">
        <p14:creationId xmlns:p14="http://schemas.microsoft.com/office/powerpoint/2010/main" val="1686213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384314" y="297607"/>
            <a:ext cx="5715000" cy="563188"/>
          </a:xfrm>
        </p:spPr>
        <p:txBody>
          <a:bodyPr/>
          <a:lstStyle/>
          <a:p>
            <a:r>
              <a:rPr lang="en-US" dirty="0"/>
              <a:t>References </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384314" y="942302"/>
            <a:ext cx="5715000" cy="3615076"/>
          </a:xfrm>
        </p:spPr>
        <p:txBody>
          <a:bodyPr>
            <a:normAutofit fontScale="85000" lnSpcReduction="20000"/>
          </a:bodyPr>
          <a:lstStyle/>
          <a:p>
            <a:r>
              <a:rPr lang="en-US" dirty="0">
                <a:ea typeface="+mn-lt"/>
                <a:cs typeface="+mn-lt"/>
                <a:hlinkClick r:id="rId3"/>
              </a:rPr>
              <a:t>https://www.sfml-dev.org/</a:t>
            </a:r>
            <a:endParaRPr lang="en-US" dirty="0">
              <a:ea typeface="+mn-lt"/>
              <a:cs typeface="+mn-lt"/>
            </a:endParaRPr>
          </a:p>
          <a:p>
            <a:endParaRPr lang="en-US" dirty="0">
              <a:ea typeface="+mn-lt"/>
              <a:cs typeface="+mn-lt"/>
            </a:endParaRPr>
          </a:p>
          <a:p>
            <a:r>
              <a:rPr lang="en-US" dirty="0">
                <a:ea typeface="+mn-lt"/>
                <a:cs typeface="+mn-lt"/>
                <a:hlinkClick r:id="rId4"/>
              </a:rPr>
              <a:t>https://www.geeksforgeeks.org/cpp-gui-programming/?ref=gcse_outind</a:t>
            </a:r>
            <a:endParaRPr lang="en-US">
              <a:ea typeface="+mn-lt"/>
              <a:cs typeface="+mn-lt"/>
            </a:endParaRPr>
          </a:p>
          <a:p>
            <a:endParaRPr lang="en-US" dirty="0">
              <a:ea typeface="+mn-lt"/>
              <a:cs typeface="+mn-lt"/>
            </a:endParaRPr>
          </a:p>
          <a:p>
            <a:r>
              <a:rPr lang="en-US" dirty="0">
                <a:ea typeface="+mn-lt"/>
                <a:cs typeface="+mn-lt"/>
                <a:hlinkClick r:id="rId5"/>
              </a:rPr>
              <a:t>https://github.com/SFML/SFML-Game-Development-Book</a:t>
            </a:r>
            <a:endParaRPr lang="en-US"/>
          </a:p>
          <a:p>
            <a:endParaRPr lang="en-US" dirty="0">
              <a:ea typeface="+mn-lt"/>
              <a:cs typeface="+mn-lt"/>
            </a:endParaRPr>
          </a:p>
          <a:p>
            <a:r>
              <a:rPr lang="en-US" dirty="0">
                <a:ea typeface="+mn-lt"/>
                <a:cs typeface="+mn-lt"/>
                <a:hlinkClick r:id="rId6"/>
              </a:rPr>
              <a:t>https://github.com/SFML/cmake-sfml-project0</a:t>
            </a:r>
            <a:endParaRPr lang="en-US">
              <a:cs typeface="Sabon Next LT"/>
            </a:endParaRPr>
          </a:p>
          <a:p>
            <a:endParaRPr lang="en-US" dirty="0">
              <a:ea typeface="+mn-lt"/>
              <a:cs typeface="+mn-lt"/>
            </a:endParaRPr>
          </a:p>
          <a:p>
            <a:r>
              <a:rPr lang="en-US" dirty="0">
                <a:ea typeface="+mn-lt"/>
                <a:cs typeface="+mn-lt"/>
                <a:hlinkClick r:id="rId7"/>
              </a:rPr>
              <a:t>https://github.com/SFML/SFML</a:t>
            </a:r>
            <a:endParaRPr lang="en-US">
              <a:ea typeface="+mn-lt"/>
              <a:cs typeface="+mn-lt"/>
            </a:endParaRPr>
          </a:p>
          <a:p>
            <a:endParaRPr lang="en-US" dirty="0">
              <a:ea typeface="+mn-lt"/>
              <a:cs typeface="+mn-lt"/>
            </a:endParaRPr>
          </a:p>
          <a:p>
            <a:endParaRPr lang="en-US" dirty="0">
              <a:cs typeface="Sabon Next LT"/>
            </a:endParaRPr>
          </a:p>
          <a:p>
            <a:endParaRPr lang="en-US" dirty="0">
              <a:cs typeface="Sabon Next LT"/>
            </a:endParaRP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7FA76D1-3C6D-40BC-A42D-496B6EDE8B8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DE99543C-82E8-4821-93BD-5A60BEB423E2}">
  <ds:schemaRefs>
    <ds:schemaRef ds:uri="http://schemas.microsoft.com/sharepoint/v3/contenttype/forms"/>
  </ds:schemaRefs>
</ds:datastoreItem>
</file>

<file path=customXml/itemProps3.xml><?xml version="1.0" encoding="utf-8"?>
<ds:datastoreItem xmlns:ds="http://schemas.openxmlformats.org/officeDocument/2006/customXml" ds:itemID="{5D7B7F6F-2C08-4296-B7AB-C2C3F42192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422</Words>
  <Application>Microsoft Office PowerPoint</Application>
  <PresentationFormat>Widescreen</PresentationFormat>
  <Paragraphs>120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Custom</vt:lpstr>
      <vt:lpstr>Snakes &amp; Ladders Game Project Michael Campise Johnny Myers Jr cOP2006::Spring2025 Dr. SunnY</vt:lpstr>
      <vt:lpstr>Our Goal</vt:lpstr>
      <vt:lpstr>Introduction &amp; Why WE Chose this project: </vt:lpstr>
      <vt:lpstr>Existing technique and Our improvisations to the existing concept</vt:lpstr>
      <vt:lpstr>Pseudo code</vt:lpstr>
      <vt:lpstr>Code Outputs Pt1</vt:lpstr>
      <vt:lpstr>Code Outputs Pt2</vt:lpstr>
      <vt:lpstr>Video:</vt:lpstr>
      <vt:lpstr>Conclusion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408</cp:revision>
  <dcterms:created xsi:type="dcterms:W3CDTF">2025-04-09T01:45:55Z</dcterms:created>
  <dcterms:modified xsi:type="dcterms:W3CDTF">2025-04-09T03:26:12Z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